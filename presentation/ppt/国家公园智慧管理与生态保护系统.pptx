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8" r:id="rId10"/>
    <p:sldId id="261" r:id="rId11"/>
    <p:sldId id="269" r:id="rId12"/>
    <p:sldId id="262" r:id="rId13"/>
    <p:sldId id="265" r:id="rId14"/>
    <p:sldId id="263" r:id="rId15"/>
    <p:sldId id="266" r:id="rId16"/>
    <p:sldId id="26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大家好，今天我们小组将向大家汇报我们的课程设计成果——国家公园智慧管理与生态保护系统。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来了解一下项目的整体情况。随着国家对生态保护的日益重视，传统的管理方式已经无法满足需求。因此，我们设计了这个智慧管理系统，旨在利用现代信息技术，实现国家公园管理的数字化和智能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在项目管理方面，我们采用了规范化的开发流程。我们的项目覆盖了五大业务线，设计了23个核心实体类。同时，我们利用GitHub进行版本控制和团队协作，并通过全局统筹确保了项目的顺利进行。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接下来，我们详细介绍各个业务线的设计。首先是生物多样性监测业务线。我们设计了物种、栖息地和监测记录等核心数据表，并通过SQL优化和存储过程等技术，实现了高效的数据管理和分析。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第二个业务线是生态环境监测。我们设计了监测指标、环境数据和预警等数据表，并实现了自动化的预警闭环。当监测数据异常时，系统会自动发出预警，大大提高了环境管理的效率。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为了保证系统的稳定性和可维护性，我们设计了全局公共表，并进行了严格的数据库质量把控和数据标准化工作。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第三个业务线是游客智能管理。我们实现了游客预约、实时轨迹追踪和区域流量控制等功能。通过这些功能，我们可以更有效地管理游客，提升游客体验，同时保护公园环境。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介绍由赵雅萱同学负责的数据标准化与集成工作。这项工作是确保我们整个系统数据一致性和规范性的关键。她制定了统一的数据字典模板，并合并生成了全局数据字典。同时，她还统一了字段命名和数据类型标准，并对全组的数据模型进行了严格的一致性检查，为后续的开发和维护工作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第四个业务线是执法监管。我们设计了从非法行为识别到执法人员调度的完整业务流程，并通过存储过程等技术，实现了执法的智能化和自动化。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在系统安全和运维方面，我们设计了完善的安全体系和运维保障机制，确保系统的稳定运行和数据安全。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最后一个业务线是科研数据支撑。我们设计了科研项目、数据采集记录和成果等数据表，为科研工作提供了有力的数据支持。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最后，我们还对项目文档进行了系统的整理和管理，并制作了本次答辩的PPT和视频。在整个项目过程中，团队成员紧密协作，共同完成了任务。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我们的汇报到此结束，感谢各位老师的聆听，恳请老师批评指正。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2.svg"/><Relationship Id="rId16" Type="http://schemas.openxmlformats.org/officeDocument/2006/relationships/image" Target="../media/image51.png"/><Relationship Id="rId15" Type="http://schemas.openxmlformats.org/officeDocument/2006/relationships/image" Target="../media/image19.svg"/><Relationship Id="rId14" Type="http://schemas.openxmlformats.org/officeDocument/2006/relationships/image" Target="../media/image18.png"/><Relationship Id="rId13" Type="http://schemas.openxmlformats.org/officeDocument/2006/relationships/image" Target="../media/image32.svg"/><Relationship Id="rId12" Type="http://schemas.openxmlformats.org/officeDocument/2006/relationships/image" Target="../media/image31.png"/><Relationship Id="rId11" Type="http://schemas.openxmlformats.org/officeDocument/2006/relationships/image" Target="../media/image50.svg"/><Relationship Id="rId10" Type="http://schemas.openxmlformats.org/officeDocument/2006/relationships/image" Target="../media/image49.png"/><Relationship Id="rId1" Type="http://schemas.openxmlformats.org/officeDocument/2006/relationships/image" Target="../media/image4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0" Type="http://schemas.openxmlformats.org/officeDocument/2006/relationships/notesSlide" Target="../notesSlides/notesSlide8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58.svg"/><Relationship Id="rId17" Type="http://schemas.openxmlformats.org/officeDocument/2006/relationships/image" Target="../media/image57.png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2.svg"/><Relationship Id="rId12" Type="http://schemas.openxmlformats.org/officeDocument/2006/relationships/image" Target="../media/image51.png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5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image" Target="../media/image67.svg"/><Relationship Id="rId6" Type="http://schemas.openxmlformats.org/officeDocument/2006/relationships/image" Target="../media/image66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9.svg"/><Relationship Id="rId10" Type="http://schemas.openxmlformats.org/officeDocument/2006/relationships/image" Target="../media/image68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8.svg"/><Relationship Id="rId16" Type="http://schemas.openxmlformats.org/officeDocument/2006/relationships/image" Target="../media/image57.png"/><Relationship Id="rId15" Type="http://schemas.openxmlformats.org/officeDocument/2006/relationships/image" Target="../media/image35.svg"/><Relationship Id="rId14" Type="http://schemas.openxmlformats.org/officeDocument/2006/relationships/image" Target="../media/image34.png"/><Relationship Id="rId13" Type="http://schemas.openxmlformats.org/officeDocument/2006/relationships/image" Target="../media/image74.svg"/><Relationship Id="rId12" Type="http://schemas.openxmlformats.org/officeDocument/2006/relationships/image" Target="../media/image73.png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7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4.svg"/><Relationship Id="rId12" Type="http://schemas.openxmlformats.org/officeDocument/2006/relationships/image" Target="../media/image83.png"/><Relationship Id="rId11" Type="http://schemas.openxmlformats.org/officeDocument/2006/relationships/image" Target="../media/image82.svg"/><Relationship Id="rId10" Type="http://schemas.openxmlformats.org/officeDocument/2006/relationships/image" Target="../media/image81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281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国家公园智慧管理与生态保护系统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304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F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286000" y="3429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数据库系统课程设计汇报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4184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651000" y="45720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小组成员：张万泉（组长）、李雪彤、赵雅萱、蔡邵涵、杨嘉雯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项目综述与工程化管理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1016008" y="1581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2032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73200" y="24384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传统管理模式面临监测、管理、执法、科研等多重挑战，难以满足“严格保护、科学利用”的核心需求。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30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73200" y="3530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73200" y="39370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构建数字化、智能化闭环管理系统，为生态保护与科学决策提供精准依据。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29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73200" y="5029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73200" y="5435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后端: Python, MySQL 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910">
            <a:off x="46355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112000" y="2032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2667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20000" y="2692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智能监测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304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物联网实时感知，实现生态环境精细化监控。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3810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20000" y="3835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高效管理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419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游客与执法数字化闭环，提升管理响应效率。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4953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620000" y="4978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科学决策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0" y="5334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多源数据分析挖掘，支撑保护策略精准制定。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项目全景与工程化管理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25600" y="20447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项目全景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20800" y="2667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覆盖生物、环境、游客、执法、科研5大业务线。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20800" y="3429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设计23个核心实体类，构建完整数据库模型。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910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4191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实现从数据采集到决策支持的全流程闭环。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4373">
            <a:off x="30480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203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35600" y="20447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GitHub规范化管理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26670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130800" y="2667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制定清晰的分支策略（main/develop/feature）。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3429000"/>
            <a:ext cx="203200" cy="203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130800" y="3429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建立严格的PR审查机制，确保代码质量。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4191000"/>
            <a:ext cx="203200" cy="203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130800" y="4191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通过Issues和Projects进行任务与进度管理。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84373">
            <a:off x="68580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0" y="2032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245600" y="20447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全局统筹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2667000"/>
            <a:ext cx="203200" cy="203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940800" y="2667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整合全局UML类图，协调各业务线实体关系。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3429000"/>
            <a:ext cx="203200" cy="203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940800" y="3429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组织多次会议，跟进进度并解决技术难题。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4191000"/>
            <a:ext cx="203200" cy="203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940800" y="4191000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确保模块间接口一致性和数据完整性。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业务线1：生物多样性监测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核心DDL设计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638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38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Species: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存储物种基本信息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988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73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Habitat: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存储栖息地信息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7338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708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MonitoringRecord: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存储物种监测记录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关键技术实现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0038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978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SQL优化: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查询效率提升约</a:t>
            </a:r>
            <a:r>
              <a:rPr lang="en-US" sz="14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72倍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6388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613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存储过程/触发器: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保障数据完整性与一致性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89257">
            <a:off x="4191000" y="3930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1905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数据模型概览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4384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7200" y="2641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2641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物种信息 (Species)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2997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物种编号、名称、分类、保护级别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35814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7200" y="3784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3784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栖息地信息 (Habitat)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39000" y="4140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区域名称、生态类型、面积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0" y="47244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07200" y="4927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39000" y="4927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监测记录 (Monitoring)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39000" y="5283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时间、地点、设备、内容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F1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业务线2：生态环境监测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1016008" y="151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业务功能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13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监测指标管理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定义和维护空气、水质等监测指标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175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环境数据采集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通过物联网设备自动采集实时数据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937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设备状态监控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实时监控设备运行，及时处理故障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594">
            <a:off x="1016008" y="4692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技术亮点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461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5461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自动化预警闭环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数据超阈值自动预警并通知处理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89257">
            <a:off x="4572000" y="3930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112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核心表设计</a:t>
            </a:r>
            <a:endParaRPr lang="en-US" sz="1100"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7112000" y="2413000"/>
          <a:ext cx="4572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286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>
                        <a:alpha val="2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MonitoringIndicator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存储监测指标信息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EnvironmentalData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存储环境监测数据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Alert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存储异常数据预警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CalibrationRecord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存储设备校准记录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全局基础支撑与质量保障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33600" y="21844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全局公共表设计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" y="28575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79600" y="2717800"/>
            <a:ext cx="4318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Region:</a:t>
            </a:r>
            <a:r>
              <a:rPr lang="en-US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统一管理国家公园功能分区。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" y="37465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79600" y="36068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User:</a:t>
            </a:r>
            <a:r>
              <a:rPr lang="en-US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统一身份认证基础。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" y="46355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879600" y="45466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MonitoringDevice:</a:t>
            </a:r>
            <a:r>
              <a:rPr lang="en-US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统一管理监测设备资产。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6249">
            <a:off x="4508486" y="3790977"/>
            <a:ext cx="31750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115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4555" y="21844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数据库质量把控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9550" y="28575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76110" y="27178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3NF范式检查: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对所有业务线的关系模式进行了严格的第三范式（3NF）检查，确保消除了数据冗余和插入、删除异常。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9550" y="3949700"/>
            <a:ext cx="203200" cy="203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76110" y="37338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完整性约束: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主键约束确保实体唯一性；外键约束确保参照完整性（如 MonitoringRecord.species_id REFERENCES Species.species_id）；非空约束（如 Species.common_name NOT NULL）与唯一约束（如 User.username UNIQUE）。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700000">
            <a:off x="-1267370" y="-1276350"/>
            <a:ext cx="1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cap="flat" cmpd="sng">
            <a:solidFill>
              <a:srgbClr val="FFFFFF">
                <a:alpha val="0"/>
              </a:srgbClr>
            </a:solidFill>
            <a:prstDash val="dash"/>
            <a:round/>
            <a:headEnd type="none"/>
            <a:tailEnd type="none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-1270000" y="-127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>
                    <a:alpha val="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数据标准化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-1270000" y="-127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>
                    <a:alpha val="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数据字典管理:</a:t>
            </a:r>
            <a:r>
              <a:rPr lang="en-US" sz="1400" b="0" i="0" u="none" strike="noStrike">
                <a:solidFill>
                  <a:srgbClr val="000000">
                    <a:alpha val="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制定统一模板（含实体/属性名称、数据类型、长度、约束条件、说明），合并业务线字典生成全局文档 global_data_dictionary.xlsx。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270000" y="-1270000"/>
            <a:ext cx="12700" cy="127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-1270000" y="-127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>
                    <a:alpha val="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标准化规范:</a:t>
            </a:r>
            <a:r>
              <a:rPr lang="en-US" sz="1400" b="0" i="0" u="none" strike="noStrike">
                <a:solidFill>
                  <a:srgbClr val="000000">
                    <a:alpha val="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字段命名统一使用下划线命名法（snake_case）；ID字段统一 VARCHAR(64)，时间字段用 DATETIME/DATE，状态字段优先 ENUM 类型。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1016000" y="5715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为系统稳定性与可维护性奠定坚实基础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业务线3：游客智能管理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1016008" y="1644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203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业务功能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游客预约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9591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支持在线预约入园，高效管理预约记录。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92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9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实时轨迹追踪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8481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通过GPS技术，实时追踪游客园内位置。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81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区域流量控制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47371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实时监控区域人数，超限自动启动限流。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594">
            <a:off x="1016008" y="5200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46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智能预警与决策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24000" y="58166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实时计算拥挤度，自动预警并辅助决策。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9257">
            <a:off x="4572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112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核心表设计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260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620000" y="2603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Visitor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2959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存储游客基础信息。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3492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620000" y="3492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Reservation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3848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存储游客预约记录。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12000" y="4381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620000" y="4381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VisitorTrajectory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0" y="4737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存储游客实时轨迹数据。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12000" y="5270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620000" y="5270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FlowControl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0" y="5626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存储区域流量控制规则与状态。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数据标准化与集成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" y="2229485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384300" y="2254885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数据字典管理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74700" y="2864485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制定统一模板，合并各业务线字典，生成全局文档，确保数据定义一致性。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84700" y="222948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5194300" y="2254885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标准化规范制定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584700" y="2864485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统一字段命名、数据类型及约束条件，提升存储效率与查询性能。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94700" y="2229485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9004300" y="2254885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数据模型一致性检查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394700" y="2864485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检查并规范5条业务线、23个核心实体类，解决实体关系冲突和命名问题。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699000"/>
            <a:ext cx="10160000" cy="1016000"/>
          </a:xfrm>
          <a:prstGeom prst="roundRect">
            <a:avLst>
              <a:gd name="adj" fmla="val 10000"/>
            </a:avLst>
          </a:prstGeom>
          <a:solidFill>
            <a:srgbClr val="00FF00">
              <a:alpha val="10000"/>
            </a:srgbClr>
          </a:solidFill>
          <a:ln w="12700" cap="flat" cmpd="sng">
            <a:solidFill>
              <a:srgbClr val="00FF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0000" y="5054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0546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为系统开发与维护奠定坚实的数据基础，提升团队协作效率。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F1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业务线4：执法监管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1016008" y="1581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1968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892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监控点捕捉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8194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智能识别非法行为，实时监控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3147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生成非法记录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449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自动生成记录并关联证据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2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1402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智能执法调度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44704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就近调度执法人员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9657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执法人员执行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52959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现场处置并记录结果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7937">
            <a:off x="4794250" y="3771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1120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核心表设计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2514600"/>
            <a:ext cx="203200" cy="203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25019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LawEnforcementOfficer (执法人员)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3022600"/>
            <a:ext cx="203200" cy="203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30099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VideoMonitorPoint (监控点)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3530600"/>
            <a:ext cx="203200" cy="203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3000" y="35179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IllegalBehaviorRecord (非法记录)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000" y="4038600"/>
            <a:ext cx="203200" cy="203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40259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LawEnforcementDispatch (执法调度)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457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5092700"/>
            <a:ext cx="203200" cy="203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93000" y="50800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存储过程:</a:t>
            </a:r>
            <a:r>
              <a:rPr lang="en-US" sz="14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dispatch_law_enforcement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系统安全与运维策略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安全体系建设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RBAC权限模型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3048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设计并实现基于角色的访问控制，实现精细化权限管理。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937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登录安全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4318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实现SHA-256加密、失败锁定与会话超时等多重安全机制。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5053">
            <a:off x="4635500" y="3486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运维保障机制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667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2667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备份策略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3048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每日增量与每周全量备份结合，自动化脚本确保数据安全。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81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810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灾难恢复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4191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制定详细恢复流程，确保系统故障时能快速恢复服务。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953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953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性能监控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5334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定期监控数据库状态与性能指标，及时发现并解决问题。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业务线5：科研数据支撑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4">
            <a:off x="1016008" y="151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90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业务功能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13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科研项目管理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管理项目申请、立项、结题全生命周期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258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225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数据采集记录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记录科研数据的采集过程和来源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386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038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成果共享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管理科研成果的上传、归档和共享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594">
            <a:off x="1016008" y="4794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546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50546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项目、数据记录、成果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5118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5118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项目统计、数据来源分析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88910">
            <a:off x="4635500" y="3867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112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数据仪表盘概览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413000"/>
            <a:ext cx="4064000" cy="1143000"/>
          </a:xfrm>
          <a:prstGeom prst="roundRect">
            <a:avLst>
              <a:gd name="adj" fmla="val 8888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15200" y="26162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772400" y="26289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项目数量统计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72400" y="30226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实时追踪各领域项目进展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3746500"/>
            <a:ext cx="4064000" cy="1143000"/>
          </a:xfrm>
          <a:prstGeom prst="roundRect">
            <a:avLst>
              <a:gd name="adj" fmla="val 8888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15200" y="39497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772400" y="3962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数据来源分析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772400" y="43561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洞察数据采集热点与趋势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5080000"/>
            <a:ext cx="4064000" cy="1143000"/>
          </a:xfrm>
          <a:prstGeom prst="roundRect">
            <a:avLst>
              <a:gd name="adj" fmla="val 8888"/>
            </a:avLst>
          </a:prstGeom>
          <a:solidFill>
            <a:srgbClr val="00FF00">
              <a:alpha val="5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15200" y="52832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772400" y="52959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成果转化追踪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772400" y="56896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评估科研产出的实际价值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项目文档与成果展示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032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文档集成与管理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整合设计文档、代码、测试报告等全部材料。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81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统筹编写小组课程设计报告 (V1.0)。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80901">
            <a:off x="3429000" y="3168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953000" y="2032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成果展示制作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2692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设计并制作本次答辩的演示PPT。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355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3581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录制并剪辑项目成果答辩视频。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0901">
            <a:off x="7366000" y="3168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890000" y="2032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协作支持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0" y="266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98000" y="2692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协助组长总结项目管理过程。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0000" y="355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398000" y="3581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主动沟通，共同解决团队问题。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207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87500" y="52324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团队协作，紧密配合，共同完成项目目标。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613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请老师批评指正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2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3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4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5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6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7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8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ags/tag9.xml><?xml version="1.0" encoding="utf-8"?>
<p:tagLst xmlns:p="http://schemas.openxmlformats.org/presentationml/2006/main">
  <p:tag name="KSO_WM_DIAGRAM_VIRTUALLY_FRAME" val="{&quot;height&quot;:170,&quot;left&quot;:61,&quot;top&quot;:175.55,&quot;width&quot;:88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2456</Words>
  <Application>WPS 演示</Application>
  <PresentationFormat/>
  <Paragraphs>318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知忱</cp:lastModifiedBy>
  <cp:revision>4</cp:revision>
  <dcterms:created xsi:type="dcterms:W3CDTF">2026-01-07T16:15:27Z</dcterms:created>
  <dcterms:modified xsi:type="dcterms:W3CDTF">2026-01-07T16:48:20Z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100074621CF04C26A3C8F2A7BB8A5455_12</vt:lpwstr>
  </property>
  <property fmtid="{D5CDD505-2E9C-101B-9397-08002B2CF9AE}" pid="3" name="KSOProductBuildVer">
    <vt:lpwstr>2052-12.1.0.24657</vt:lpwstr>
  </property>
</Properties>
</file>